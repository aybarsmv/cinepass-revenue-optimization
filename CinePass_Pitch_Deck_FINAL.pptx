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off-peak guest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213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Marginal Cost
to Serve</c:v>
                  </c:pt>
                  <c:pt idx="1">
                    <c:v>Concession
Revenue Earned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6213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;($#,##0)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3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7A4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Subscription
MRR</c:v>
                  </c:pt>
                  <c:pt idx="1">
                    <c:v>Concession
Revenue</c:v>
                  </c:pt>
                  <c:pt idx="2">
                    <c:v>Variable
Cost</c:v>
                  </c:pt>
                  <c:pt idx="3">
                    <c:v>Cannibalized
Tickets</c:v>
                  </c:pt>
                  <c:pt idx="4">
                    <c:v>Net
Contribution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130293</c:v>
                </c:pt>
                <c:pt idx="1">
                  <c:v>172862</c:v>
                </c:pt>
                <c:pt idx="2">
                  <c:v>-19403</c:v>
                </c:pt>
                <c:pt idx="3">
                  <c:v>-64947</c:v>
                </c:pt>
                <c:pt idx="4">
                  <c:v>218806</c:v>
                </c:pt>
              </c:numCache>
            </c:numRef>
          </c:val>
        </c:ser>
        <c:dLbls>
          <c:numFmt formatCode="$#,##0;($#,##0)" sourceLinked="0"/>
          <c:txPr>
            <a:bodyPr/>
            <a:lstStyle/>
            <a:p>
              <a:pPr>
                <a:defRPr b="0" i="0" strike="noStrike" sz="900" u="none">
                  <a:solidFill>
                    <a:srgbClr val="16213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Subscriber Visits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1518</c:v>
                </c:pt>
                <c:pt idx="1">
                  <c:v>2244</c:v>
                </c:pt>
                <c:pt idx="2">
                  <c:v>3289</c:v>
                </c:pt>
                <c:pt idx="3">
                  <c:v>4638</c:v>
                </c:pt>
                <c:pt idx="4">
                  <c:v>6136</c:v>
                </c:pt>
                <c:pt idx="5">
                  <c:v>7830</c:v>
                </c:pt>
                <c:pt idx="6">
                  <c:v>9558</c:v>
                </c:pt>
                <c:pt idx="7">
                  <c:v>11340</c:v>
                </c:pt>
                <c:pt idx="8">
                  <c:v>13063</c:v>
                </c:pt>
                <c:pt idx="9">
                  <c:v>14471</c:v>
                </c:pt>
                <c:pt idx="10">
                  <c:v>15963</c:v>
                </c:pt>
                <c:pt idx="11">
                  <c:v>17639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Break-even Visits (required)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1070</c:v>
                </c:pt>
                <c:pt idx="1">
                  <c:v>1586</c:v>
                </c:pt>
                <c:pt idx="2">
                  <c:v>2090</c:v>
                </c:pt>
                <c:pt idx="3">
                  <c:v>2833</c:v>
                </c:pt>
                <c:pt idx="4">
                  <c:v>3502</c:v>
                </c:pt>
                <c:pt idx="5">
                  <c:v>4314</c:v>
                </c:pt>
                <c:pt idx="6">
                  <c:v>4950</c:v>
                </c:pt>
                <c:pt idx="7">
                  <c:v>5722</c:v>
                </c:pt>
                <c:pt idx="8">
                  <c:v>6233</c:v>
                </c:pt>
                <c:pt idx="9">
                  <c:v>6614</c:v>
                </c:pt>
                <c:pt idx="10">
                  <c:v>7065</c:v>
                </c:pt>
                <c:pt idx="11">
                  <c:v>7465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13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MRR Growth → $1.56M ARR run-rate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MRR ($)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12851</c:v>
                </c:pt>
                <c:pt idx="1">
                  <c:v>17854</c:v>
                </c:pt>
                <c:pt idx="2">
                  <c:v>24412</c:v>
                </c:pt>
                <c:pt idx="3">
                  <c:v>32508</c:v>
                </c:pt>
                <c:pt idx="4">
                  <c:v>42018</c:v>
                </c:pt>
                <c:pt idx="5">
                  <c:v>52623</c:v>
                </c:pt>
                <c:pt idx="6">
                  <c:v>79307</c:v>
                </c:pt>
                <c:pt idx="7">
                  <c:v>97127</c:v>
                </c:pt>
                <c:pt idx="8">
                  <c:v>114619</c:v>
                </c:pt>
                <c:pt idx="9">
                  <c:v>127500</c:v>
                </c:pt>
                <c:pt idx="10">
                  <c:v>130000</c:v>
                </c:pt>
                <c:pt idx="11">
                  <c:v>130293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Off-Peak Vacancy: 68% → 47%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Off-Peak Empty Seat %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</c:v>
                </c:pt>
                <c:pt idx="1">
                  <c:v>66</c:v>
                </c:pt>
                <c:pt idx="2">
                  <c:v>64</c:v>
                </c:pt>
                <c:pt idx="3">
                  <c:v>62</c:v>
                </c:pt>
                <c:pt idx="4">
                  <c:v>60</c:v>
                </c:pt>
                <c:pt idx="5">
                  <c:v>58</c:v>
                </c:pt>
                <c:pt idx="6">
                  <c:v>56</c:v>
                </c:pt>
                <c:pt idx="7">
                  <c:v>54</c:v>
                </c:pt>
                <c:pt idx="8">
                  <c:v>52</c:v>
                </c:pt>
                <c:pt idx="9">
                  <c:v>50</c:v>
                </c:pt>
                <c:pt idx="10">
                  <c:v>48</c:v>
                </c:pt>
                <c:pt idx="11">
                  <c:v>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40680"/>
            <a:ext cx="12161520" cy="1417320"/>
          </a:xfrm>
          <a:prstGeom prst="rect">
            <a:avLst/>
          </a:prstGeom>
          <a:solidFill>
            <a:srgbClr val="2A3A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288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CinePass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Revenue Optimization &amp; Subscription Model Strategy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empty off-peak seats into predictable, high-margin recurring revenue.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Aybars Mavi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Economics, Yildiz Technical University (YTU)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 · SYNTHETIC 12-MONTH MODEL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Empty Seat Paradox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651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60–70%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weekday off-peak seats go unsold — while every fixed cost is still paid in full.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7178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2121408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8911" y="2278319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94960" y="1920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dangerously concentrated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94960" y="2304288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clusters into Friday/Saturday nights and a few tentpole releases. The rest of the week runs near-empty.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3255264"/>
            <a:ext cx="7178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3639312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911" y="3796223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34381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perfectly perishable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394960" y="3822192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unsold 2 PM Tuesday seat cannot be stored, discounted later, or recovered. Its value expires when the film begins.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43400" y="4773168"/>
            <a:ext cx="7178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0" y="5157216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911" y="5314127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4960" y="49560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is volatile and exogenous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394960" y="5340096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Box-office revenue is hostage to release schedules, weather, and sentiment — none of which management controls.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 Insight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 are high-fixed-cost, near-zero-marginal-cost businesses. Seating one more guest off-peak costs almost nothing — but earns real concession margin.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860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2286000"/>
            <a:ext cx="5029200" cy="1170432"/>
          </a:xfrm>
          <a:prstGeom prst="roundRect">
            <a:avLst>
              <a:gd name="adj" fmla="val 468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93408" y="2578608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809" y="2726009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2360" y="24323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 is a sunk cost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452360" y="278892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staff, projection, and licensing are paid whether the auditorium holds 5 guests or 250.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92240" y="3584448"/>
            <a:ext cx="5029200" cy="1170432"/>
          </a:xfrm>
          <a:prstGeom prst="roundRect">
            <a:avLst>
              <a:gd name="adj" fmla="val 468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93408" y="3877056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809" y="402445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3730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is the profit center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452360" y="408736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incremental visit drives ~$9 of high-margin food &amp; drink spend.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92240" y="4882896"/>
            <a:ext cx="5029200" cy="1170432"/>
          </a:xfrm>
          <a:prstGeom prst="roundRect">
            <a:avLst>
              <a:gd name="adj" fmla="val 468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93408" y="5175504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09" y="5322905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9× return on the marginal guest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452360" y="538581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 to serve vs. ~$9 earned — fill the seat and you manufacture margin.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CinePass: From Transactional to Recurring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 model that converts volatile box-office income into predictable Monthly Recurring Revenue (MRR) — and turns occasional guests into habitual, high-concession visitors.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83464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730" y="30486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8404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MRR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438912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the violent peaks and troughs of box-office cyclicality into reliable monthly cash flow.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25146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283464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930" y="304861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8404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Footfall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84448" y="438912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drives repeat visits — and repeat visits drive the concession margin that funds the model.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26480" y="25146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95160" y="283464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0" y="304861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38404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De-risked Revenue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27648" y="438912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income is contracted and visible, insulating the P&amp;L from weak release slates and weather.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869680" y="25146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38360" y="283464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330" y="304861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06840" y="38404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&amp; Lock-in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070848" y="438912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pass reframes cinema from an occasional outing into a default leisure habit, lifting frequency.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 Customer Segmentation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discrimination captures every willingness-to-pay band while steering demand toward the lowest-opportunity-cost inventory.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067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9164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Matinee Pass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$14.99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914400" y="3703320"/>
            <a:ext cx="2971800" cy="0"/>
          </a:xfrm>
          <a:prstGeom prst="line">
            <a:avLst/>
          </a:prstGeom>
          <a:noFill/>
          <a:ln w="12700">
            <a:solidFill>
              <a:srgbClr val="DDE4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only (weekdays before 5 PM)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retirees · flexible &amp; remote workers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role: </a:t>
            </a:r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emptiest, lowest-yield seats with minimal cannibalization.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61688" y="19659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36008" y="22402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240670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13248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13248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Pass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636008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$24.99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4636008" y="3703320"/>
            <a:ext cx="2971800" cy="0"/>
          </a:xfrm>
          <a:prstGeom prst="line">
            <a:avLst/>
          </a:prstGeom>
          <a:noFill/>
          <a:ln w="12700">
            <a:solidFill>
              <a:srgbClr val="DDE4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36008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films / month, anytime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636008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moviegoers · couples · young professionals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636008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role: </a:t>
            </a:r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engine — balances broad access with healthy margin.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083296" y="19659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57616" y="22402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406701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34856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134856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 Premium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8357616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$34.99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3000" dirty="0"/>
          </a:p>
        </p:txBody>
      </p:sp>
      <p:sp>
        <p:nvSpPr>
          <p:cNvPr id="31" name="Shape 26"/>
          <p:cNvSpPr/>
          <p:nvPr/>
        </p:nvSpPr>
        <p:spPr>
          <a:xfrm>
            <a:off x="8357616" y="3703320"/>
            <a:ext cx="2971800" cy="0"/>
          </a:xfrm>
          <a:prstGeom prst="line">
            <a:avLst/>
          </a:prstGeom>
          <a:noFill/>
          <a:ln w="12700">
            <a:solidFill>
              <a:srgbClr val="2A3A6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357616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incl. IMAX + priority &amp; guest passes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357616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Cinephiles · superfans · high-frequency attendees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8357616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role: </a:t>
            </a:r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visit frequency and concession attach; flagship tier.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That Drives Frequency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economics live or die on churn and visit frequency. Every mechanic is engineered to do one of two things: reduce churn or increase visits.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5000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251642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CinePoints Currency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on every visit and concession purchase, redeemable for upgrades, snacks, and exclusive screenings.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0574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35000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3" y="251642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Streaks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Consecutive-week attendance unlocks escalating rewards — directly engineering the frequency that funds margin.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0574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235000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516429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Badges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2104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“Critic”, “Connoisseur”, and “Premiere” tiers unlock priority seating and early access — aspirational progression.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0690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436168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4528109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1440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earn credit for converting friends, lowering acquisition cost and improving cohort quality.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3400" y="40690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9432" y="436168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3" y="4528109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Challenges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61772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 marathons (e.g. “Award Season Sprint”) spike off-peak attendance during otherwise-soft windows.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46720" y="40690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02752" y="436168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173" y="4528109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9828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32104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competition keeps the app — and the membership — top of mind between visits.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$1.00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/ off-peak seat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8745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$9.00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2697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revenue / visit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8745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 / member / mo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18745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697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contribution margin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comes from — Month 12 ($)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4069080"/>
          <a:ext cx="7498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8412480" y="406908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41080" y="4297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subscription is the trojan horse.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641080" y="498348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is the true profit center. The pass exists to manufacture footfall; food &amp; drink convert that footfall into margin that comfortably outweighs every cost line.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Cannibalization, Quantified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risk: some members would have paid full price anyway. We price it explicitly — and show incremental concession margin covers it many times over.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70408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205740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56448" y="2386584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359" y="2543495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42832" y="2221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Modeled, not assumed away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942832" y="2587752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Cannibalization is set at a declining 42% → 28% as later cohorts skew toward lapsed and net-new audiences.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955280" y="34747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156448" y="3803904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359" y="3960815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42832" y="36393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break-even test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942832" y="4005072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month, incremental concession margin must cover forgone ticket yield. It does — with room to spare.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955280" y="489204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156448" y="5221224"/>
            <a:ext cx="603504" cy="603504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359" y="5378135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42832" y="5056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2.4× coverage by Month 12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942832" y="5422392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subscriber visits clear the cannibalization break-even threshold by roughly 2.4 times.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12-Month Projection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" y="4800600"/>
          <a:ext cx="5486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00800" y="201168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5,690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565392" y="32004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by Month 12 (from 660)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9006840" y="201168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00684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$1.56M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9171432" y="32004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run-rate at Month 12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0" y="425196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$1.30M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565392" y="54406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net program contribution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006840" y="425196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00684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pts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9171432" y="54406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vacancy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2742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Launch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19072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pricing, acquire the founding base, and prove off-peak fill with the Matinee tier.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1828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103120"/>
            <a:ext cx="658368" cy="65836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184" y="227429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Optimize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4068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36008" y="29718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price step-up, full gamification rollout, and churn reduction on the early cohort.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83296" y="1828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2103120"/>
            <a:ext cx="658368" cy="65836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792" y="227429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62288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162288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10–12+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57616" y="29718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student bundles, partner concessions, and multi-site rollout across the chain.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47091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4400" y="4892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mandate to launch CinePass on one circuit — converting dead off-peak capacity into a $1.5M+ recurring-revenue line within 12 months, at a ~70% program contribution margin.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CinePass — Cinema Revenue Optimization &amp; Subscription Model Strategy</dc:title>
  <dc:subject>PptxGenJS Presentation</dc:subject>
  <dc:creator>Aybars Mavi</dc:creator>
  <cp:lastModifiedBy>Aybars Mavi</cp:lastModifiedBy>
  <cp:revision>1</cp:revision>
  <dcterms:created xsi:type="dcterms:W3CDTF">2026-06-24T19:03:43Z</dcterms:created>
  <dcterms:modified xsi:type="dcterms:W3CDTF">2026-06-24T19:03:43Z</dcterms:modified>
</cp:coreProperties>
</file>